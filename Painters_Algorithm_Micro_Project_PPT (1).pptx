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000" b="1">
                <a:solidFill>
                  <a:srgbClr val="F2F6FA"/>
                </a:solidFill>
                <a:latin typeface="Aptos"/>
              </a:defRPr>
            </a:pPr>
            <a:r>
              <a:t>3D INDOOR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27632"/>
            <a:ext cx="102412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37BEDC"/>
                </a:solidFill>
                <a:latin typeface="Aptos"/>
              </a:defRPr>
            </a:pPr>
            <a:r>
              <a:t>USING DEPTH ORDERING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487168"/>
            <a:ext cx="98755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AAB8CA"/>
                </a:solidFill>
                <a:latin typeface="Aptos"/>
              </a:defRPr>
            </a:pPr>
            <a:r>
              <a:t>Painter’s Algorithm  |  Depth-Sorting Algorithm  |  Back-to-Front Rendering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03320"/>
            <a:ext cx="4754880" cy="132588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950208"/>
            <a:ext cx="43434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AAB8CA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15968"/>
            <a:ext cx="434340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F2F6FA"/>
                </a:solidFill>
                <a:latin typeface="Aptos"/>
              </a:defRPr>
            </a:pPr>
            <a:r>
              <a:t>PUNEETH N  •  2411021061259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100" b="0">
                <a:solidFill>
                  <a:srgbClr val="AAB8CA"/>
                </a:solidFill>
                <a:latin typeface="Aptos"/>
              </a:defRPr>
            </a:pPr>
            <a:r>
              <a:t>Topic 28  |  Computer Graphics Micro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1. Objective &amp; 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What the micro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429768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29768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37BEDC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66344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2F6FA"/>
                </a:solidFill>
                <a:latin typeface="Aptos"/>
              </a:defRPr>
            </a:pPr>
            <a:r>
              <a:t>Implement depth ordering for objects in a 3D indoor navigation environment so that overlapping surfaces render correctly.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4BCD91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57200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2F6FA"/>
                </a:solidFill>
                <a:latin typeface="Aptos"/>
              </a:defRPr>
            </a:pPr>
            <a:r>
              <a:t>A working indoor environment where walls, desks and other surfaces appear in the correct front-to-back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800600"/>
            <a:ext cx="448056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5BE46"/>
                </a:solidFill>
                <a:latin typeface="Aptos"/>
              </a:defRPr>
            </a:pPr>
            <a:r>
              <a:t>Core idea: farther first → nearer last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2. What Is Painter’s Algorithm?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Also called depth sorting or back-to-front rendering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583680" cy="44348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59436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37BEDC"/>
                </a:solidFill>
                <a:latin typeface="Aptos"/>
              </a:defRPr>
            </a:pPr>
            <a:r>
              <a:t>THE BASIC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5852160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400" b="1">
                <a:solidFill>
                  <a:srgbClr val="F2F6FA"/>
                </a:solidFill>
                <a:latin typeface="Aptos"/>
              </a:defRPr>
            </a:pPr>
            <a:r>
              <a:t>Render polygons in order from the farthest object to the nearest object.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5806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t>• Nearer polygons are drawn later.</a:t>
            </a:r>
          </a:p>
          <a:p>
            <a:pPr>
              <a:spcAft>
                <a:spcPts val="10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t>• Later drawing covers earlier drawing.</a:t>
            </a:r>
          </a:p>
          <a:p>
            <a:pPr>
              <a:spcAft>
                <a:spcPts val="10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t>• This creates the correct visual overlap.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417320"/>
            <a:ext cx="3931920" cy="44348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737360"/>
            <a:ext cx="329184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F5BE46"/>
                </a:solidFill>
                <a:latin typeface="Aptos"/>
              </a:defRPr>
            </a:pPr>
            <a:r>
              <a:t>OTHER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31720"/>
            <a:ext cx="3246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2F6FA"/>
                </a:solidFill>
                <a:latin typeface="Aptos"/>
              </a:defRPr>
            </a:pPr>
            <a:r>
              <a:t>Depth-Sorting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108960"/>
            <a:ext cx="3246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2F6FA"/>
                </a:solidFill>
                <a:latin typeface="Aptos"/>
              </a:defRPr>
            </a:pPr>
            <a:r>
              <a:t>Back-to-Front Rendering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886200"/>
            <a:ext cx="32461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F2F6FA"/>
                </a:solidFill>
                <a:latin typeface="Aptos"/>
              </a:defRPr>
            </a:pPr>
            <a:r>
              <a:t>Priority Fill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3.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Four steps are performed every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514600" cy="402336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914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37BE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057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F2F6FA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05740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0">
                <a:solidFill>
                  <a:srgbClr val="AAB8CA"/>
                </a:solidFill>
                <a:latin typeface="Aptos"/>
              </a:defRPr>
            </a:pPr>
            <a:r>
              <a:t>Convert each polygon into camera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1" y="2971800"/>
            <a:ext cx="274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7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514600" cy="402336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1874519"/>
            <a:ext cx="914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37BE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23160"/>
            <a:ext cx="2057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F2F6FA"/>
                </a:solidFill>
                <a:latin typeface="Aptos"/>
              </a:defRPr>
            </a:pPr>
            <a:r>
              <a:t>Measure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54680"/>
            <a:ext cx="205740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0">
                <a:solidFill>
                  <a:srgbClr val="AAB8CA"/>
                </a:solidFill>
                <a:latin typeface="Aptos"/>
              </a:defRPr>
            </a:pPr>
            <a:r>
              <a:t>Find distance from camera to polygon centre.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971800"/>
            <a:ext cx="274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7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00200"/>
            <a:ext cx="2514600" cy="402336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874519"/>
            <a:ext cx="914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37BE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23160"/>
            <a:ext cx="2057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F2F6FA"/>
                </a:solidFill>
                <a:latin typeface="Aptos"/>
              </a:defRPr>
            </a:pPr>
            <a:r>
              <a:t>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54680"/>
            <a:ext cx="205740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0">
                <a:solidFill>
                  <a:srgbClr val="AAB8CA"/>
                </a:solidFill>
                <a:latin typeface="Aptos"/>
              </a:defRPr>
            </a:pPr>
            <a:r>
              <a:t>Order polygons from farthest to nearest.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2971800"/>
            <a:ext cx="274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7BE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600200"/>
            <a:ext cx="2514600" cy="402336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1874519"/>
            <a:ext cx="914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37BE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23160"/>
            <a:ext cx="2057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F2F6FA"/>
                </a:solidFill>
                <a:latin typeface="Aptos"/>
              </a:defRPr>
            </a:pPr>
            <a:r>
              <a:t>Draw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154680"/>
            <a:ext cx="205740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0">
                <a:solidFill>
                  <a:srgbClr val="AAB8CA"/>
                </a:solidFill>
                <a:latin typeface="Aptos"/>
              </a:defRPr>
            </a:pPr>
            <a:r>
              <a:t>Paint in that sorted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4. Measuring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The project uses the face centre as the sorting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44348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4348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5720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37BEDC"/>
                </a:solidFill>
                <a:latin typeface="Aptos"/>
              </a:defRPr>
            </a:pPr>
            <a:r>
              <a:t>face_depth(face, cam)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5720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0">
                <a:solidFill>
                  <a:srgbClr val="F2F6FA"/>
                </a:solidFill>
                <a:latin typeface="Aptos"/>
              </a:defRPr>
            </a:pPr>
            <a:r>
              <a:t>The four polygon corners are averaged to find the face centre.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57600"/>
            <a:ext cx="4572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AAB8CA"/>
                </a:solidFill>
                <a:latin typeface="Aptos"/>
              </a:defRPr>
            </a:pPr>
            <a:r>
              <a:t>The vector from the face centre to the camera is converted to a straight-line distance.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389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4BCD91"/>
                </a:solidFill>
                <a:latin typeface="Aptos"/>
              </a:defRPr>
            </a:pPr>
            <a:r>
              <a:t>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38912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800" b="1">
                <a:solidFill>
                  <a:srgbClr val="F2F6FA"/>
                </a:solidFill>
                <a:latin typeface="Aptos"/>
              </a:defRPr>
            </a:pPr>
            <a:r>
              <a:t>d = √(x² + y² + z²)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37560"/>
            <a:ext cx="43891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0">
                <a:solidFill>
                  <a:srgbClr val="AAB8CA"/>
                </a:solidFill>
                <a:latin typeface="Aptos"/>
              </a:defRPr>
            </a:pPr>
            <a:r>
              <a:t>Larger distance = farther polygon</a:t>
            </a:r>
            <a:br/>
            <a:r>
              <a:t>Smaller distance = nearer polygon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5. Sorting &amp; 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Far-to-near ordering controls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94960" cy="448056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66360" cy="448056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7548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37BEDC"/>
                </a:solidFill>
                <a:latin typeface="Aptos"/>
              </a:defRPr>
            </a:pPr>
            <a:r>
              <a:t>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66344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F2F6FA"/>
                </a:solidFill>
                <a:latin typeface="Aptos"/>
              </a:defRPr>
            </a:pPr>
            <a:r>
              <a:t>painter_sort(items)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466344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AAB8CA"/>
                </a:solidFill>
                <a:latin typeface="Aptos"/>
              </a:defRPr>
            </a:pPr>
            <a:r>
              <a:t>The project sorts by distance using reverse=True, placing the farthest polygon first and the nearest last.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48056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4BCD91"/>
                </a:solidFill>
                <a:latin typeface="Aptos"/>
              </a:defRPr>
            </a:pPr>
            <a:r>
              <a:t>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48056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F2F6FA"/>
                </a:solidFill>
                <a:latin typeface="Aptos"/>
              </a:defRPr>
            </a:pPr>
            <a:r>
              <a:t>FAR → MID → 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54680"/>
            <a:ext cx="4480560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AAB8CA"/>
                </a:solidFill>
                <a:latin typeface="Aptos"/>
              </a:defRPr>
            </a:pPr>
            <a:r>
              <a:t>Each polygon is painted over what is already on the screen. Therefore, nearer surfaces cover farther surfaces.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6. 3D Indoor Navigation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Features included in the running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074920" cy="713232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617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2F6FA"/>
                </a:solidFill>
                <a:latin typeface="Aptos"/>
              </a:defRPr>
            </a:pPr>
            <a:r>
              <a:t>✓  4 rooms + corridor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5074920" cy="713232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679192"/>
            <a:ext cx="4617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2F6FA"/>
                </a:solidFill>
                <a:latin typeface="Aptos"/>
              </a:defRPr>
            </a:pPr>
            <a:r>
              <a:t>✓  Hinged doors that open when you approach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5074920" cy="713232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685032"/>
            <a:ext cx="4617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2F6FA"/>
                </a:solidFill>
                <a:latin typeface="Aptos"/>
              </a:defRPr>
            </a:pPr>
            <a:r>
              <a:t>✓  Walls split into 1.5 m tiles for better sorting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5074920" cy="713232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690872"/>
            <a:ext cx="4617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2F6FA"/>
                </a:solidFill>
                <a:latin typeface="Aptos"/>
              </a:defRPr>
            </a:pPr>
            <a:r>
              <a:t>✓  Back-face culling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508760"/>
            <a:ext cx="5074920" cy="713232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59" y="1673351"/>
            <a:ext cx="4617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2F6FA"/>
                </a:solidFill>
                <a:latin typeface="Aptos"/>
              </a:defRPr>
            </a:pPr>
            <a:r>
              <a:t>✓  Near-plane clipping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514600"/>
            <a:ext cx="5074920" cy="713232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59" y="2679192"/>
            <a:ext cx="4617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2F6FA"/>
                </a:solidFill>
                <a:latin typeface="Aptos"/>
              </a:defRPr>
            </a:pPr>
            <a:r>
              <a:t>✓  Distance fog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520440"/>
            <a:ext cx="5074920" cy="713232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3685032"/>
            <a:ext cx="4617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2F6FA"/>
                </a:solidFill>
                <a:latin typeface="Aptos"/>
              </a:defRPr>
            </a:pPr>
            <a:r>
              <a:t>✓  Collision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526280"/>
            <a:ext cx="5074920" cy="713232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4690872"/>
            <a:ext cx="4617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F2F6FA"/>
                </a:solidFill>
                <a:latin typeface="Aptos"/>
              </a:defRPr>
            </a:pPr>
            <a:r>
              <a:t>✓  Live depth labels + minimap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7. Demonstrating Correct 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The strongest proof is the P ON / P OFF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29000" cy="416052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8803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4BCD91"/>
                </a:solidFill>
                <a:latin typeface="Aptos"/>
              </a:defRPr>
            </a:pPr>
            <a:r>
              <a:t>P ON —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788920" cy="1417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F2F6FA"/>
                </a:solidFill>
                <a:latin typeface="Aptos"/>
              </a:defRPr>
            </a:pPr>
            <a:r>
              <a:t>Walls and desks correctly hide objects behind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429000" cy="416052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28803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EB5F69"/>
                </a:solidFill>
                <a:latin typeface="Aptos"/>
              </a:defRPr>
            </a:pPr>
            <a:r>
              <a:t>P OFF —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88920"/>
            <a:ext cx="2788920" cy="1417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F2F6FA"/>
                </a:solidFill>
                <a:latin typeface="Aptos"/>
              </a:defRPr>
            </a:pPr>
            <a:r>
              <a:t>Far objects can be painted over nearer objects.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54480"/>
            <a:ext cx="3429000" cy="416052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1874519"/>
            <a:ext cx="28803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5BE46"/>
                </a:solidFill>
                <a:latin typeface="Aptos"/>
              </a:defRPr>
            </a:pPr>
            <a:r>
              <a:t>DEPTH VIEW — 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788920"/>
            <a:ext cx="2788920" cy="1417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F2F6FA"/>
                </a:solidFill>
                <a:latin typeface="Aptos"/>
              </a:defRPr>
            </a:pPr>
            <a:r>
              <a:t>Near objects are brighter; far objects are darker.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897880"/>
            <a:ext cx="5760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AAB8CA"/>
                </a:solidFill>
                <a:latin typeface="Aptos"/>
              </a:defRPr>
            </a:pPr>
            <a:r>
              <a:t>Press P to switch the Painter’s Algorithm on/off.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8. Limitations &amp; Z-Buffer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Why another visibility method is commonly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5720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EB5F69"/>
                </a:solidFill>
                <a:latin typeface="Aptos"/>
              </a:defRPr>
            </a:pPr>
            <a:r>
              <a:t>PAINTER’S ALGORITHM —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Cyclic or intersecting polygons can break the order.</a:t>
            </a:r>
          </a:p>
          <a:p>
            <a:pPr>
              <a:spcAft>
                <a:spcPts val="10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Sorting costs O(n log n) per frame.</a:t>
            </a:r>
          </a:p>
          <a:p>
            <a:pPr>
              <a:spcAft>
                <a:spcPts val="10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Hidden polygons are still painted, causing overdraw.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389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4BCD91"/>
                </a:solidFill>
                <a:latin typeface="Aptos"/>
              </a:defRPr>
            </a:pPr>
            <a:r>
              <a:t>Z-BUFFER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Stores depth for every pixel.</a:t>
            </a:r>
          </a:p>
          <a:p>
            <a:pPr>
              <a:spcAft>
                <a:spcPts val="10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Does not require polygon sorting.</a:t>
            </a:r>
          </a:p>
          <a:p>
            <a:pPr>
              <a:spcAft>
                <a:spcPts val="1000"/>
              </a:spcAft>
              <a:defRPr sz="1600">
                <a:solidFill>
                  <a:srgbClr val="F2F6FA"/>
                </a:solidFill>
                <a:latin typeface="Aptos"/>
              </a:defRPr>
            </a:pPr>
            <a:r>
              <a:t>• Uses additional memory.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9. Controls &amp;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Use these controls while presenting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2926080" cy="5486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90472"/>
            <a:ext cx="25603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37BEDC"/>
                </a:solidFill>
                <a:latin typeface="Aptos"/>
              </a:defRPr>
            </a:pPr>
            <a:r>
              <a:t>W A S D / Arrows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90472"/>
            <a:ext cx="62179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2F6FA"/>
                </a:solidFill>
                <a:latin typeface="Aptos"/>
              </a:defRPr>
            </a:pPr>
            <a:r>
              <a:t>Move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21408"/>
            <a:ext cx="2926080" cy="5486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240279"/>
            <a:ext cx="25603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37BEDC"/>
                </a:solidFill>
                <a:latin typeface="Aptos"/>
              </a:defRPr>
            </a:pPr>
            <a:r>
              <a:t>Q / E / Mouse drag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40279"/>
            <a:ext cx="62179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2F6FA"/>
                </a:solidFill>
                <a:latin typeface="Aptos"/>
              </a:defRPr>
            </a:pPr>
            <a:r>
              <a:t>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71215"/>
            <a:ext cx="2926080" cy="5486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990087"/>
            <a:ext cx="25603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37BEDC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90087"/>
            <a:ext cx="62179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2F6FA"/>
                </a:solidFill>
                <a:latin typeface="Aptos"/>
              </a:defRPr>
            </a:pPr>
            <a:r>
              <a:t>Painter’s Algorithm ON / 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21024"/>
            <a:ext cx="2926080" cy="5486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739896"/>
            <a:ext cx="25603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37BEDC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39896"/>
            <a:ext cx="62179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2F6FA"/>
                </a:solidFill>
                <a:latin typeface="Aptos"/>
              </a:defRPr>
            </a:pPr>
            <a:r>
              <a:t>Depth shading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70831"/>
            <a:ext cx="2926080" cy="5486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489703"/>
            <a:ext cx="25603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37BEDC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89703"/>
            <a:ext cx="62179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2F6FA"/>
                </a:solidFill>
                <a:latin typeface="Aptos"/>
              </a:defRPr>
            </a:pPr>
            <a:r>
              <a:t>Object depth labels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20640"/>
            <a:ext cx="2926080" cy="54864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239512"/>
            <a:ext cx="25603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37BEDC"/>
                </a:solidFill>
                <a:latin typeface="Aptos"/>
              </a:defRPr>
            </a:pPr>
            <a:r>
              <a:t>- / 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239512"/>
            <a:ext cx="62179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2F6FA"/>
                </a:solidFill>
                <a:latin typeface="Aptos"/>
              </a:defRPr>
            </a:pPr>
            <a:r>
              <a:t>Replay draw order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t>What the micro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61320" cy="438912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98755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900" b="1">
                <a:solidFill>
                  <a:srgbClr val="37BEDC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14600"/>
            <a:ext cx="964692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300" b="1">
                <a:solidFill>
                  <a:srgbClr val="F2F6FA"/>
                </a:solidFill>
                <a:latin typeface="Aptos"/>
              </a:defRPr>
            </a:pPr>
            <a:r>
              <a:t>Painter’s Algorithm renders a scene by sorting polygons from farthest to nearest, allowing nearer surfaces to cover farther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32688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AAB8CA"/>
                </a:solidFill>
                <a:latin typeface="Aptos"/>
              </a:defRPr>
            </a:pPr>
            <a:r>
              <a:t>The project demonstrates this process in a 3D indoor navigation environment and shows both its practical benefits and limitations.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A"/>
                </a:solidFill>
                <a:latin typeface="Aptos Display"/>
              </a:defRPr>
            </a:pPr>
            <a:r>
              <a:t>11. PROJECT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212288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8CA"/>
                </a:solidFill>
                <a:latin typeface="Aptos"/>
              </a:defRPr>
            </a:pPr>
            <a:r>
              <a:rPr lang="en-IN" dirty="0"/>
              <a:t>Project Example Using Video: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CA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332720" cy="4480560"/>
          </a:xfrm>
          <a:prstGeom prst="roundRect">
            <a:avLst/>
          </a:prstGeom>
          <a:solidFill>
            <a:srgbClr val="121B2D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5039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800" b="1">
                <a:solidFill>
                  <a:srgbClr val="37BEDC"/>
                </a:solidFill>
                <a:latin typeface="Aptos"/>
              </a:defRPr>
            </a:pPr>
            <a:r>
              <a:t>VIDEO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66160"/>
            <a:ext cx="8503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AAB8CA"/>
                </a:solidFill>
                <a:latin typeface="Aptos"/>
              </a:defRPr>
            </a:pPr>
            <a:r>
              <a:t>Add your running-project video on this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AAB8CA"/>
                </a:solidFill>
                <a:latin typeface="Aptos"/>
              </a:defRPr>
            </a:pPr>
            <a:r>
              <a:t>Do not add other content — keep this slide dedicated to the demo.</a:t>
            </a:r>
          </a:p>
        </p:txBody>
      </p:sp>
      <p:pic>
        <p:nvPicPr>
          <p:cNvPr id="10" name="gemini_generated_video_5b1f2530">
            <a:hlinkClick r:id="" action="ppaction://media"/>
            <a:extLst>
              <a:ext uri="{FF2B5EF4-FFF2-40B4-BE49-F238E27FC236}">
                <a16:creationId xmlns:a16="http://schemas.microsoft.com/office/drawing/2014/main" id="{DD5888D9-6347-6CE9-CEB0-9A219FE5CC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4880" y="1442910"/>
            <a:ext cx="10302240" cy="4367956"/>
          </a:xfrm>
          <a:prstGeom prst="flowChartAlternateProcess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655</Words>
  <Application>Microsoft Office PowerPoint</Application>
  <PresentationFormat>Widescreen</PresentationFormat>
  <Paragraphs>121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PUNEETH N</cp:lastModifiedBy>
  <cp:revision>2</cp:revision>
  <dcterms:created xsi:type="dcterms:W3CDTF">2013-01-27T09:14:16Z</dcterms:created>
  <dcterms:modified xsi:type="dcterms:W3CDTF">2026-09-29T17:13:18Z</dcterms:modified>
  <cp:category/>
</cp:coreProperties>
</file>